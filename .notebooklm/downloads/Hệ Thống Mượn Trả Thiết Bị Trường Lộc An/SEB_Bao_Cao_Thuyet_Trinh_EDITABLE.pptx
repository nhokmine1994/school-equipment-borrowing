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56032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560320"/>
            <a:ext cx="12191695" cy="91440"/>
          </a:xfrm>
          <a:prstGeom prst="rect">
            <a:avLst/>
          </a:prstGeom>
          <a:solidFill>
            <a:srgbClr val="E0C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548640"/>
            <a:ext cx="10332720" cy="1645920"/>
          </a:xfrm>
          <a:prstGeom prst="rect">
            <a:avLst/>
          </a:prstGeom>
          <a:noFill/>
        </p:spPr>
        <p:txBody>
          <a:bodyPr wrap="square">
            <a:spAutoFit/>
          </a:bodyPr>
          <a:lstStyle/>
          <a:p>
            <a:pPr>
              <a:defRPr sz="1400" b="1">
                <a:solidFill>
                  <a:srgbClr val="E0CE92"/>
                </a:solidFill>
                <a:latin typeface="Segoe UI"/>
              </a:defRPr>
            </a:pPr>
            <a:r>
              <a:t>BÁO CÁO KỸ THUẬT &amp; ĐỒ ÁN TỐT NGHIỆP</a:t>
            </a:r>
          </a:p>
          <a:p>
            <a:pPr>
              <a:defRPr sz="3200" b="1">
                <a:solidFill>
                  <a:srgbClr val="FFFFFF"/>
                </a:solidFill>
                <a:latin typeface="Segoe UI"/>
              </a:defRPr>
            </a:pPr>
            <a:r>
              <a:t>HỆ THỐNG QUẢN LÝ MƯỢN TRẢ THIẾT BỊ (SEB)</a:t>
            </a:r>
          </a:p>
          <a:p>
            <a:pPr>
              <a:defRPr sz="1500">
                <a:solidFill>
                  <a:srgbClr val="FFFFFF"/>
                </a:solidFill>
                <a:latin typeface="Segoe UI"/>
              </a:defRPr>
            </a:pPr>
            <a:r>
              <a:t>Đơn vị thụ hưởng: Trường THCS Lộc An | Mô hình Hybrid React - PHP &amp; SQL Server</a:t>
            </a:r>
          </a:p>
        </p:txBody>
      </p:sp>
      <p:sp>
        <p:nvSpPr>
          <p:cNvPr id="6" name="Rounded Rectangle 5"/>
          <p:cNvSpPr/>
          <p:nvPr/>
        </p:nvSpPr>
        <p:spPr>
          <a:xfrm>
            <a:off x="914400" y="3108960"/>
            <a:ext cx="10362895" cy="3108960"/>
          </a:xfrm>
          <a:prstGeom prst="roundRect">
            <a:avLst/>
          </a:prstGeom>
          <a:solidFill>
            <a:srgbClr val="FFFFFF"/>
          </a:solidFill>
          <a:ln w="19050">
            <a:solidFill>
              <a:srgbClr val="BAE0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383280"/>
            <a:ext cx="9418320" cy="2560320"/>
          </a:xfrm>
          <a:prstGeom prst="rect">
            <a:avLst/>
          </a:prstGeom>
          <a:noFill/>
        </p:spPr>
        <p:txBody>
          <a:bodyPr wrap="square">
            <a:spAutoFit/>
          </a:bodyPr>
          <a:lstStyle/>
          <a:p>
            <a:pPr>
              <a:defRPr sz="1600" b="1">
                <a:solidFill>
                  <a:srgbClr val="0B5AA9"/>
                </a:solidFill>
                <a:latin typeface="Segoe UI"/>
              </a:defRPr>
            </a:pPr>
            <a:r>
              <a:t>THÔNG TIN THÀNH VIÊN NHÓM THỰC HIỆN:</a:t>
            </a:r>
          </a:p>
          <a:p>
            <a:pPr>
              <a:spcBef>
                <a:spcPts val="800"/>
              </a:spcBef>
            </a:pPr>
            <a:r>
              <a:rPr sz="1400" b="1">
                <a:solidFill>
                  <a:srgbClr val="1976D2"/>
                </a:solidFill>
                <a:latin typeface="Segoe UI"/>
              </a:rPr>
              <a:t>• Phạm Công Hậu </a:t>
            </a:r>
            <a:r>
              <a:rPr sz="1400" b="1">
                <a:solidFill>
                  <a:srgbClr val="0F172A"/>
                </a:solidFill>
                <a:latin typeface="Segoe UI"/>
              </a:rPr>
              <a:t>(MSSV: 525000458) - </a:t>
            </a:r>
            <a:r>
              <a:rPr sz="1300">
                <a:solidFill>
                  <a:srgbClr val="475569"/>
                </a:solidFill>
                <a:latin typeface="Segoe UI"/>
              </a:rPr>
              <a:t>Trưởng nhóm / Kiến trúc hệ thống &amp; Backend PHP</a:t>
            </a:r>
          </a:p>
          <a:p>
            <a:pPr>
              <a:spcBef>
                <a:spcPts val="800"/>
              </a:spcBef>
            </a:pPr>
            <a:r>
              <a:rPr sz="1400" b="1">
                <a:solidFill>
                  <a:srgbClr val="1976D2"/>
                </a:solidFill>
                <a:latin typeface="Segoe UI"/>
              </a:rPr>
              <a:t>• Lò Văn Duẩn </a:t>
            </a:r>
            <a:r>
              <a:rPr sz="1400" b="1">
                <a:solidFill>
                  <a:srgbClr val="0F172A"/>
                </a:solidFill>
                <a:latin typeface="Segoe UI"/>
              </a:rPr>
              <a:t>(MSSV: 525000631) - </a:t>
            </a:r>
            <a:r>
              <a:rPr sz="1300">
                <a:solidFill>
                  <a:srgbClr val="475569"/>
                </a:solidFill>
                <a:latin typeface="Segoe UI"/>
              </a:rPr>
              <a:t>Lập trình Giao diện React SPA &amp; Tối ưu UI/UX</a:t>
            </a:r>
          </a:p>
          <a:p>
            <a:pPr>
              <a:spcBef>
                <a:spcPts val="800"/>
              </a:spcBef>
            </a:pPr>
            <a:r>
              <a:rPr sz="1400" b="1">
                <a:solidFill>
                  <a:srgbClr val="1976D2"/>
                </a:solidFill>
                <a:latin typeface="Segoe UI"/>
              </a:rPr>
              <a:t>• Đặng Bắc Nam </a:t>
            </a:r>
            <a:r>
              <a:rPr sz="1400" b="1">
                <a:solidFill>
                  <a:srgbClr val="0F172A"/>
                </a:solidFill>
                <a:latin typeface="Segoe UI"/>
              </a:rPr>
              <a:t>(MSSV: 425000218) - </a:t>
            </a:r>
            <a:r>
              <a:rPr sz="1300">
                <a:solidFill>
                  <a:srgbClr val="475569"/>
                </a:solidFill>
                <a:latin typeface="Segoe UI"/>
              </a:rPr>
              <a:t>Thiết kế CSDL SQL Server, Nghiệm thu &amp; Tích hợp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822960"/>
          </a:xfrm>
          <a:prstGeom prst="rect">
            <a:avLst/>
          </a:prstGeom>
          <a:noFill/>
        </p:spPr>
        <p:txBody>
          <a:bodyPr wrap="square" lIns="0" tIns="0" rIns="0" bIns="0">
            <a:spAutoFit/>
          </a:bodyPr>
          <a:lstStyle/>
          <a:p>
            <a:pPr>
              <a:defRPr sz="1000" b="1">
                <a:solidFill>
                  <a:srgbClr val="42A5F5"/>
                </a:solidFill>
                <a:latin typeface="Segoe UI"/>
              </a:defRPr>
            </a:pPr>
            <a:r>
              <a:t>INFOGRAPHIC TỔNG QUAN GIẢI PHÁP SỐ HÓA</a:t>
            </a:r>
          </a:p>
          <a:p>
            <a:pPr>
              <a:defRPr sz="2200" b="1">
                <a:solidFill>
                  <a:srgbClr val="0B5AA9"/>
                </a:solidFill>
                <a:latin typeface="Segoe UI"/>
              </a:defRPr>
            </a:pPr>
            <a:r>
              <a:t>Hệ Thống Quản Lý Mượn Trả Thiết Bị (SEB) - Trường THCS Lộc An</a:t>
            </a:r>
          </a:p>
        </p:txBody>
      </p:sp>
      <p:sp>
        <p:nvSpPr>
          <p:cNvPr id="5" name="TextBox 4"/>
          <p:cNvSpPr txBox="1"/>
          <p:nvPr/>
        </p:nvSpPr>
        <p:spPr>
          <a:xfrm>
            <a:off x="731520" y="1188720"/>
            <a:ext cx="10698480" cy="411480"/>
          </a:xfrm>
          <a:prstGeom prst="rect">
            <a:avLst/>
          </a:prstGeom>
          <a:noFill/>
        </p:spPr>
        <p:txBody>
          <a:bodyPr wrap="square">
            <a:spAutoFit/>
          </a:bodyPr>
          <a:lstStyle/>
          <a:p>
            <a:pPr>
              <a:defRPr sz="1200">
                <a:solidFill>
                  <a:srgbClr val="475569"/>
                </a:solidFill>
                <a:latin typeface="Segoe UI"/>
              </a:defRPr>
            </a:pPr>
            <a:r>
              <a:t>Giải pháp số hóa toàn diện quản lý kho thiết bị, phòng học và tin tức tại Trường THCS Lộc An. Vận hành trên nền tảng Hybrid React-PHP hiện đại, bảo mật và hiệu suất cao.</a:t>
            </a:r>
          </a:p>
        </p:txBody>
      </p:sp>
      <p:sp>
        <p:nvSpPr>
          <p:cNvPr id="6" name="Rounded Rectangle 5"/>
          <p:cNvSpPr/>
          <p:nvPr/>
        </p:nvSpPr>
        <p:spPr>
          <a:xfrm>
            <a:off x="731520" y="1691640"/>
            <a:ext cx="5212080" cy="411480"/>
          </a:xfrm>
          <a:prstGeom prst="round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TÍNH NĂNG DÀNH CHO NGƯỜI DÙNG</a:t>
            </a:r>
          </a:p>
        </p:txBody>
      </p:sp>
      <p:sp>
        <p:nvSpPr>
          <p:cNvPr id="7" name="Rounded Rectangle 6"/>
          <p:cNvSpPr/>
          <p:nvPr/>
        </p:nvSpPr>
        <p:spPr>
          <a:xfrm>
            <a:off x="731520" y="2194560"/>
            <a:ext cx="5212080" cy="1371600"/>
          </a:xfrm>
          <a:prstGeom prst="roundRect">
            <a:avLst/>
          </a:prstGeom>
          <a:solidFill>
            <a:srgbClr val="FFFFFF"/>
          </a:solidFill>
          <a:ln w="12700">
            <a:solidFill>
              <a:srgbClr val="BAE0FD"/>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defRPr sz="1300" b="1">
                <a:solidFill>
                  <a:srgbClr val="0B5AA9"/>
                </a:solidFill>
                <a:latin typeface="Segoe UI"/>
              </a:defRPr>
            </a:pPr>
            <a:r>
              <a:t>Quản lý thiết bị thời gian thực</a:t>
            </a:r>
          </a:p>
          <a:p>
            <a:pPr>
              <a:defRPr sz="1100">
                <a:solidFill>
                  <a:srgbClr val="475569"/>
                </a:solidFill>
                <a:latin typeface="Segoe UI"/>
              </a:defRPr>
            </a:pPr>
            <a:r>
              <a:t>Theo dõi trạng thái của hơn 600 thiết bị từ máy tính đến dụng cụ thí nghiệm.</a:t>
            </a:r>
          </a:p>
        </p:txBody>
      </p:sp>
      <p:sp>
        <p:nvSpPr>
          <p:cNvPr id="8" name="Rounded Rectangle 7"/>
          <p:cNvSpPr/>
          <p:nvPr/>
        </p:nvSpPr>
        <p:spPr>
          <a:xfrm>
            <a:off x="960120" y="2926080"/>
            <a:ext cx="1508760" cy="502920"/>
          </a:xfrm>
          <a:prstGeom prst="roundRect">
            <a:avLst/>
          </a:prstGeom>
          <a:solidFill>
            <a:srgbClr val="E5F3FD"/>
          </a:solidFill>
          <a:ln w="1905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tIns="36576"/>
          <a:lstStyle/>
          <a:p>
            <a:pPr algn="ctr">
              <a:defRPr sz="1100" b="1">
                <a:solidFill>
                  <a:srgbClr val="1976D2"/>
                </a:solidFill>
                <a:latin typeface="Segoe UI"/>
              </a:defRPr>
            </a:pPr>
            <a:r>
              <a:t>631 Hiện có</a:t>
            </a:r>
          </a:p>
        </p:txBody>
      </p:sp>
      <p:sp>
        <p:nvSpPr>
          <p:cNvPr id="9" name="Rounded Rectangle 8"/>
          <p:cNvSpPr/>
          <p:nvPr/>
        </p:nvSpPr>
        <p:spPr>
          <a:xfrm>
            <a:off x="2606040" y="2926080"/>
            <a:ext cx="1508760" cy="502920"/>
          </a:xfrm>
          <a:prstGeom prst="roundRect">
            <a:avLst/>
          </a:prstGeom>
          <a:solidFill>
            <a:srgbClr val="E5F3FD"/>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tIns="36576"/>
          <a:lstStyle/>
          <a:p>
            <a:pPr algn="ctr">
              <a:defRPr sz="1100" b="1">
                <a:solidFill>
                  <a:srgbClr val="F59E0B"/>
                </a:solidFill>
                <a:latin typeface="Segoe UI"/>
              </a:defRPr>
            </a:pPr>
            <a:r>
              <a:t>65 Đang mượn</a:t>
            </a:r>
          </a:p>
        </p:txBody>
      </p:sp>
      <p:sp>
        <p:nvSpPr>
          <p:cNvPr id="10" name="Rounded Rectangle 9"/>
          <p:cNvSpPr/>
          <p:nvPr/>
        </p:nvSpPr>
        <p:spPr>
          <a:xfrm>
            <a:off x="4251960" y="2926080"/>
            <a:ext cx="1508760" cy="502920"/>
          </a:xfrm>
          <a:prstGeom prst="roundRect">
            <a:avLst/>
          </a:prstGeom>
          <a:solidFill>
            <a:srgbClr val="E5F3F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36576"/>
          <a:lstStyle/>
          <a:p>
            <a:pPr algn="ctr">
              <a:defRPr sz="1100" b="1">
                <a:solidFill>
                  <a:srgbClr val="10B981"/>
                </a:solidFill>
                <a:latin typeface="Segoe UI"/>
              </a:defRPr>
            </a:pPr>
            <a:r>
              <a:t>0 Bảo trì</a:t>
            </a:r>
          </a:p>
        </p:txBody>
      </p:sp>
      <p:sp>
        <p:nvSpPr>
          <p:cNvPr id="11" name="Rounded Rectangle 10"/>
          <p:cNvSpPr/>
          <p:nvPr/>
        </p:nvSpPr>
        <p:spPr>
          <a:xfrm>
            <a:off x="731520" y="3657600"/>
            <a:ext cx="5212080" cy="1280160"/>
          </a:xfrm>
          <a:prstGeom prst="roundRect">
            <a:avLst/>
          </a:prstGeom>
          <a:solidFill>
            <a:srgbClr val="FFFFFF"/>
          </a:solidFill>
          <a:ln w="12700">
            <a:solidFill>
              <a:srgbClr val="BAE0FD"/>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defRPr sz="1300" b="1">
                <a:solidFill>
                  <a:srgbClr val="0B5AA9"/>
                </a:solidFill>
                <a:latin typeface="Segoe UI"/>
              </a:defRPr>
            </a:pPr>
            <a:r>
              <a:t>Đăng ký phòng học trực quan</a:t>
            </a:r>
          </a:p>
          <a:p>
            <a:pPr>
              <a:defRPr sz="1100">
                <a:solidFill>
                  <a:srgbClr val="475569"/>
                </a:solidFill>
                <a:latin typeface="Segoe UI"/>
              </a:defRPr>
            </a:pPr>
            <a:r>
              <a:t>Lịch biểu phân chia theo tiết học và ca học (Sáng / Chiều T2–T6) giúp giáo viên dễ dàng kiểm tra phòng trống và đặt lịch giảng dạy tức thì.</a:t>
            </a:r>
          </a:p>
        </p:txBody>
      </p:sp>
      <p:sp>
        <p:nvSpPr>
          <p:cNvPr id="12" name="Rounded Rectangle 11"/>
          <p:cNvSpPr/>
          <p:nvPr/>
        </p:nvSpPr>
        <p:spPr>
          <a:xfrm>
            <a:off x="731520" y="5029200"/>
            <a:ext cx="5212080" cy="1371600"/>
          </a:xfrm>
          <a:prstGeom prst="roundRect">
            <a:avLst/>
          </a:prstGeom>
          <a:solidFill>
            <a:srgbClr val="FFFFFF"/>
          </a:solidFill>
          <a:ln w="12700">
            <a:solidFill>
              <a:srgbClr val="BAE0FD"/>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defRPr sz="1300" b="1">
                <a:solidFill>
                  <a:srgbClr val="0B5AA9"/>
                </a:solidFill>
                <a:latin typeface="Segoe UI"/>
              </a:defRPr>
            </a:pPr>
            <a:r>
              <a:t>Cá nhân hóa kho lưu trữ (Kho Cá Nhân)</a:t>
            </a:r>
          </a:p>
          <a:p>
            <a:pPr>
              <a:defRPr sz="1100">
                <a:solidFill>
                  <a:srgbClr val="475569"/>
                </a:solidFill>
                <a:latin typeface="Segoe UI"/>
              </a:defRPr>
            </a:pPr>
            <a:r>
              <a:t>Mỗi người dùng có không gian riêng để theo dõi lịch sử mượn, thiết bị đang giữ, thời hạn hoàn trả và trạng thái duyệt phiếu của từng đơn hàng.</a:t>
            </a:r>
          </a:p>
        </p:txBody>
      </p:sp>
      <p:sp>
        <p:nvSpPr>
          <p:cNvPr id="13" name="Rounded Rectangle 12"/>
          <p:cNvSpPr/>
          <p:nvPr/>
        </p:nvSpPr>
        <p:spPr>
          <a:xfrm>
            <a:off x="6217920" y="1691640"/>
            <a:ext cx="5212080" cy="411480"/>
          </a:xfrm>
          <a:prstGeom prst="roundRect">
            <a:avLst/>
          </a:prstGeom>
          <a:solidFill>
            <a:srgbClr val="0B5A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NỀN TẢNG &amp; QUẢN TRỊ HỆ THỐNG</a:t>
            </a:r>
          </a:p>
        </p:txBody>
      </p:sp>
      <p:sp>
        <p:nvSpPr>
          <p:cNvPr id="14" name="Rounded Rectangle 13"/>
          <p:cNvSpPr/>
          <p:nvPr/>
        </p:nvSpPr>
        <p:spPr>
          <a:xfrm>
            <a:off x="6217920" y="2194560"/>
            <a:ext cx="5212080" cy="1371600"/>
          </a:xfrm>
          <a:prstGeom prst="roundRect">
            <a:avLst/>
          </a:prstGeom>
          <a:solidFill>
            <a:srgbClr val="FFFFFF"/>
          </a:solidFill>
          <a:ln w="12700">
            <a:solidFill>
              <a:srgbClr val="BAE0FD"/>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defRPr sz="1300" b="1">
                <a:solidFill>
                  <a:srgbClr val="0B5AA9"/>
                </a:solidFill>
                <a:latin typeface="Segoe UI"/>
              </a:defRPr>
            </a:pPr>
            <a:r>
              <a:t>Kiến trúc Hybrid React-PHP</a:t>
            </a:r>
          </a:p>
          <a:p>
            <a:pPr>
              <a:defRPr sz="1100">
                <a:solidFill>
                  <a:srgbClr val="475569"/>
                </a:solidFill>
                <a:latin typeface="Segoe UI"/>
              </a:defRPr>
            </a:pPr>
            <a:r>
              <a:t>Sử dụng React cho giao diện mượt mà (SPA, Vite build, Skeleton loading) kết hợp PHP phía Backend để xử lý xác thực session an toàn và kết nối cơ sở dữ liệu.</a:t>
            </a:r>
          </a:p>
        </p:txBody>
      </p:sp>
      <p:sp>
        <p:nvSpPr>
          <p:cNvPr id="15" name="Rounded Rectangle 14"/>
          <p:cNvSpPr/>
          <p:nvPr/>
        </p:nvSpPr>
        <p:spPr>
          <a:xfrm>
            <a:off x="6217920" y="3657600"/>
            <a:ext cx="5212080" cy="1280160"/>
          </a:xfrm>
          <a:prstGeom prst="roundRect">
            <a:avLst/>
          </a:prstGeom>
          <a:solidFill>
            <a:srgbClr val="FFFFFF"/>
          </a:solidFill>
          <a:ln w="12700">
            <a:solidFill>
              <a:srgbClr val="BAE0FD"/>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defRPr sz="1300" b="1">
                <a:solidFill>
                  <a:srgbClr val="0B5AA9"/>
                </a:solidFill>
                <a:latin typeface="Segoe UI"/>
              </a:defRPr>
            </a:pPr>
            <a:r>
              <a:t>Quy trình duyệt 3 bước chuẩn hóa</a:t>
            </a:r>
          </a:p>
          <a:p>
            <a:pPr>
              <a:defRPr sz="1100">
                <a:solidFill>
                  <a:srgbClr val="475569"/>
                </a:solidFill>
                <a:latin typeface="Segoe UI"/>
              </a:defRPr>
            </a:pPr>
            <a:r>
              <a:t>Mọi yêu cầu được phân loại rõ ràng trong CSDL SQL Server với bảng TinhTrangDuyet:</a:t>
            </a:r>
          </a:p>
        </p:txBody>
      </p:sp>
      <p:sp>
        <p:nvSpPr>
          <p:cNvPr id="16" name="Chevron 15"/>
          <p:cNvSpPr/>
          <p:nvPr/>
        </p:nvSpPr>
        <p:spPr>
          <a:xfrm>
            <a:off x="6446520" y="4389120"/>
            <a:ext cx="1508760" cy="411480"/>
          </a:xfrm>
          <a:prstGeom prst="chevron">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1. Chờ duyệt</a:t>
            </a:r>
          </a:p>
        </p:txBody>
      </p:sp>
      <p:sp>
        <p:nvSpPr>
          <p:cNvPr id="17" name="Chevron 16"/>
          <p:cNvSpPr/>
          <p:nvPr/>
        </p:nvSpPr>
        <p:spPr>
          <a:xfrm>
            <a:off x="8092440" y="4389120"/>
            <a:ext cx="1508760" cy="411480"/>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2. Đã duyệt</a:t>
            </a:r>
          </a:p>
        </p:txBody>
      </p:sp>
      <p:sp>
        <p:nvSpPr>
          <p:cNvPr id="18" name="Chevron 17"/>
          <p:cNvSpPr/>
          <p:nvPr/>
        </p:nvSpPr>
        <p:spPr>
          <a:xfrm>
            <a:off x="9738360" y="4389120"/>
            <a:ext cx="1508760" cy="411480"/>
          </a:xfrm>
          <a:prstGeom prst="chevron">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3. Từ chối</a:t>
            </a:r>
          </a:p>
        </p:txBody>
      </p:sp>
      <p:sp>
        <p:nvSpPr>
          <p:cNvPr id="19" name="Rounded Rectangle 18"/>
          <p:cNvSpPr/>
          <p:nvPr/>
        </p:nvSpPr>
        <p:spPr>
          <a:xfrm>
            <a:off x="6217920" y="5029200"/>
            <a:ext cx="5212080" cy="1371600"/>
          </a:xfrm>
          <a:prstGeom prst="roundRect">
            <a:avLst/>
          </a:prstGeom>
          <a:solidFill>
            <a:srgbClr val="FFFFFF"/>
          </a:solidFill>
          <a:ln w="12700">
            <a:solidFill>
              <a:srgbClr val="BAE0FD"/>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defRPr sz="1300" b="1">
                <a:solidFill>
                  <a:srgbClr val="0B5AA9"/>
                </a:solidFill>
                <a:latin typeface="Segoe UI"/>
              </a:defRPr>
            </a:pPr>
            <a:r>
              <a:t>Hệ quản trị cơ sở dữ liệu chuyên sâu (SQL Server)</a:t>
            </a:r>
          </a:p>
          <a:p>
            <a:pPr>
              <a:defRPr sz="1100">
                <a:solidFill>
                  <a:srgbClr val="475569"/>
                </a:solidFill>
                <a:latin typeface="Segoe UI"/>
              </a:defRPr>
            </a:pPr>
            <a:r>
              <a:t>Dữ liệu chuẩn hóa trên Microsoft SQL Server với hệ thống Stored Procedure bảo mật, ràng buộc khóa ngoại (Foreign Keys) và quy tắc Default constraint đảm bảo tính toàn vẹn.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822960"/>
          </a:xfrm>
          <a:prstGeom prst="rect">
            <a:avLst/>
          </a:prstGeom>
          <a:noFill/>
        </p:spPr>
        <p:txBody>
          <a:bodyPr wrap="square" lIns="0" tIns="0" rIns="0" bIns="0">
            <a:spAutoFit/>
          </a:bodyPr>
          <a:lstStyle/>
          <a:p>
            <a:pPr>
              <a:defRPr sz="1000" b="1">
                <a:solidFill>
                  <a:srgbClr val="42A5F5"/>
                </a:solidFill>
                <a:latin typeface="Segoe UI"/>
              </a:defRPr>
            </a:pPr>
            <a:r>
              <a:t>KIẾN TRÚC HỆ THỐNG &amp; TECH STACK</a:t>
            </a:r>
          </a:p>
          <a:p>
            <a:pPr>
              <a:defRPr sz="2200" b="1">
                <a:solidFill>
                  <a:srgbClr val="0B5AA9"/>
                </a:solidFill>
                <a:latin typeface="Segoe UI"/>
              </a:defRPr>
            </a:pPr>
            <a:r>
              <a:t>Kiến Trúc Công Nghệ Hybrid React + PHP</a:t>
            </a:r>
          </a:p>
        </p:txBody>
      </p:sp>
      <p:sp>
        <p:nvSpPr>
          <p:cNvPr id="5" name="Rounded Rectangle 4"/>
          <p:cNvSpPr/>
          <p:nvPr/>
        </p:nvSpPr>
        <p:spPr>
          <a:xfrm>
            <a:off x="731520" y="1463040"/>
            <a:ext cx="3328416" cy="4754880"/>
          </a:xfrm>
          <a:prstGeom prst="roundRect">
            <a:avLst/>
          </a:prstGeom>
          <a:solidFill>
            <a:srgbClr val="FFFFFF"/>
          </a:solidFill>
          <a:ln w="19050">
            <a:solidFill>
              <a:srgbClr val="BAE0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3328416" cy="822960"/>
          </a:xfrm>
          <a:prstGeom prst="round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TẦNG TRÌNH DIỄN (FRONTEND SPA)</a:t>
            </a:r>
          </a:p>
          <a:p>
            <a:pPr algn="ctr">
              <a:defRPr sz="950">
                <a:solidFill>
                  <a:srgbClr val="E0CE92"/>
                </a:solidFill>
                <a:latin typeface="Segoe UI"/>
              </a:defRPr>
            </a:pPr>
            <a:r>
              <a:t>React, Vite, HTML5, CSS3, Bootstrap</a:t>
            </a:r>
          </a:p>
        </p:txBody>
      </p:sp>
      <p:sp>
        <p:nvSpPr>
          <p:cNvPr id="7" name="TextBox 6"/>
          <p:cNvSpPr txBox="1"/>
          <p:nvPr/>
        </p:nvSpPr>
        <p:spPr>
          <a:xfrm>
            <a:off x="914400" y="2468880"/>
            <a:ext cx="2962656" cy="3474720"/>
          </a:xfrm>
          <a:prstGeom prst="rect">
            <a:avLst/>
          </a:prstGeom>
          <a:noFill/>
        </p:spPr>
        <p:txBody>
          <a:bodyPr wrap="square" lIns="0" tIns="0">
            <a:spAutoFit/>
          </a:bodyPr>
          <a:lstStyle/>
          <a:p>
            <a:pPr>
              <a:spcBef>
                <a:spcPts val="1000"/>
              </a:spcBef>
              <a:defRPr sz="1150">
                <a:solidFill>
                  <a:srgbClr val="0F172A"/>
                </a:solidFill>
                <a:latin typeface="Segoe UI"/>
              </a:defRPr>
            </a:pPr>
            <a:r>
              <a:t>✔  Giao diện hiện đại, phản hồi tức thì (SPA).</a:t>
            </a:r>
          </a:p>
          <a:p>
            <a:pPr>
              <a:spcBef>
                <a:spcPts val="1000"/>
              </a:spcBef>
              <a:defRPr sz="1150">
                <a:solidFill>
                  <a:srgbClr val="0F172A"/>
                </a:solidFill>
                <a:latin typeface="Segoe UI"/>
              </a:defRPr>
            </a:pPr>
            <a:r>
              <a:t>✔  Sử dụng Vite làm công cụ build tối ưu tài nguyên.</a:t>
            </a:r>
          </a:p>
          <a:p>
            <a:pPr>
              <a:spcBef>
                <a:spcPts val="1000"/>
              </a:spcBef>
              <a:defRPr sz="1150">
                <a:solidFill>
                  <a:srgbClr val="0F172A"/>
                </a:solidFill>
                <a:latin typeface="Segoe UI"/>
              </a:defRPr>
            </a:pPr>
            <a:r>
              <a:t>✔  Tích hợp Skeleton Loading &amp; Spinner tăng trải nghiệm.</a:t>
            </a:r>
          </a:p>
          <a:p>
            <a:pPr>
              <a:spcBef>
                <a:spcPts val="1000"/>
              </a:spcBef>
              <a:defRPr sz="1150">
                <a:solidFill>
                  <a:srgbClr val="0F172A"/>
                </a:solidFill>
                <a:latin typeface="Segoe UI"/>
              </a:defRPr>
            </a:pPr>
            <a:r>
              <a:t>✔  Responsive hoàn chỉnh trên cả Desktop, Tablet &amp; Mobile.</a:t>
            </a:r>
          </a:p>
        </p:txBody>
      </p:sp>
      <p:sp>
        <p:nvSpPr>
          <p:cNvPr id="8" name="Rounded Rectangle 7"/>
          <p:cNvSpPr/>
          <p:nvPr/>
        </p:nvSpPr>
        <p:spPr>
          <a:xfrm>
            <a:off x="4425696" y="1463040"/>
            <a:ext cx="3328416" cy="4754880"/>
          </a:xfrm>
          <a:prstGeom prst="roundRect">
            <a:avLst/>
          </a:prstGeom>
          <a:solidFill>
            <a:srgbClr val="FFFFFF"/>
          </a:solidFill>
          <a:ln w="19050">
            <a:solidFill>
              <a:srgbClr val="BAE0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25696" y="1463040"/>
            <a:ext cx="3328416" cy="822960"/>
          </a:xfrm>
          <a:prstGeom prst="roundRect">
            <a:avLst/>
          </a:prstGeom>
          <a:solidFill>
            <a:srgbClr val="0B5AA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TẦNG XỬ LÝ (BACKEND LOGIC)</a:t>
            </a:r>
          </a:p>
          <a:p>
            <a:pPr algn="ctr">
              <a:defRPr sz="950">
                <a:solidFill>
                  <a:srgbClr val="E0CE92"/>
                </a:solidFill>
                <a:latin typeface="Segoe UI"/>
              </a:defRPr>
            </a:pPr>
            <a:r>
              <a:t>PHP (Native API &amp; Session Helper)</a:t>
            </a:r>
          </a:p>
        </p:txBody>
      </p:sp>
      <p:sp>
        <p:nvSpPr>
          <p:cNvPr id="10" name="TextBox 9"/>
          <p:cNvSpPr txBox="1"/>
          <p:nvPr/>
        </p:nvSpPr>
        <p:spPr>
          <a:xfrm>
            <a:off x="4608576" y="2468880"/>
            <a:ext cx="2962656" cy="3474720"/>
          </a:xfrm>
          <a:prstGeom prst="rect">
            <a:avLst/>
          </a:prstGeom>
          <a:noFill/>
        </p:spPr>
        <p:txBody>
          <a:bodyPr wrap="square" lIns="0" tIns="0">
            <a:spAutoFit/>
          </a:bodyPr>
          <a:lstStyle/>
          <a:p>
            <a:pPr>
              <a:spcBef>
                <a:spcPts val="1000"/>
              </a:spcBef>
              <a:defRPr sz="1150">
                <a:solidFill>
                  <a:srgbClr val="0F172A"/>
                </a:solidFill>
                <a:latin typeface="Segoe UI"/>
              </a:defRPr>
            </a:pPr>
            <a:r>
              <a:t>✔  Đảm nhận định tuyến an toàn qua Apache .htaccess.</a:t>
            </a:r>
          </a:p>
          <a:p>
            <a:pPr>
              <a:spcBef>
                <a:spcPts val="1000"/>
              </a:spcBef>
              <a:defRPr sz="1150">
                <a:solidFill>
                  <a:srgbClr val="0F172A"/>
                </a:solidFill>
                <a:latin typeface="Segoe UI"/>
              </a:defRPr>
            </a:pPr>
            <a:r>
              <a:t>✔  Quản lý session người dùng và xác thực phân quyền.</a:t>
            </a:r>
          </a:p>
          <a:p>
            <a:pPr>
              <a:spcBef>
                <a:spcPts val="1000"/>
              </a:spcBef>
              <a:defRPr sz="1150">
                <a:solidFill>
                  <a:srgbClr val="0F172A"/>
                </a:solidFill>
                <a:latin typeface="Segoe UI"/>
              </a:defRPr>
            </a:pPr>
            <a:r>
              <a:t>✔  Xử lý logic mượn trả, kiểm tra xung đột thời gian.</a:t>
            </a:r>
          </a:p>
          <a:p>
            <a:pPr>
              <a:spcBef>
                <a:spcPts val="1000"/>
              </a:spcBef>
              <a:defRPr sz="1150">
                <a:solidFill>
                  <a:srgbClr val="0F172A"/>
                </a:solidFill>
                <a:latin typeface="Segoe UI"/>
              </a:defRPr>
            </a:pPr>
            <a:r>
              <a:t>✔  Cung cấp fallback an toàn cho môi trường production.</a:t>
            </a:r>
          </a:p>
        </p:txBody>
      </p:sp>
      <p:sp>
        <p:nvSpPr>
          <p:cNvPr id="11" name="Rounded Rectangle 10"/>
          <p:cNvSpPr/>
          <p:nvPr/>
        </p:nvSpPr>
        <p:spPr>
          <a:xfrm>
            <a:off x="8119872" y="1463040"/>
            <a:ext cx="3328416" cy="4754880"/>
          </a:xfrm>
          <a:prstGeom prst="roundRect">
            <a:avLst/>
          </a:prstGeom>
          <a:solidFill>
            <a:srgbClr val="FFFFFF"/>
          </a:solidFill>
          <a:ln w="19050">
            <a:solidFill>
              <a:srgbClr val="BAE0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19872" y="1463040"/>
            <a:ext cx="3328416" cy="822960"/>
          </a:xfrm>
          <a:prstGeom prst="roundRect">
            <a:avLst/>
          </a:prstGeom>
          <a:solidFill>
            <a:srgbClr val="42A5F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TẦNG DỮ LIỆU (DATABASE TẬP TRUNG)</a:t>
            </a:r>
          </a:p>
          <a:p>
            <a:pPr algn="ctr">
              <a:defRPr sz="950">
                <a:solidFill>
                  <a:srgbClr val="E0CE92"/>
                </a:solidFill>
                <a:latin typeface="Segoe UI"/>
              </a:defRPr>
            </a:pPr>
            <a:r>
              <a:t>Microsoft SQL Server (MSSQL)</a:t>
            </a:r>
          </a:p>
        </p:txBody>
      </p:sp>
      <p:sp>
        <p:nvSpPr>
          <p:cNvPr id="13" name="TextBox 12"/>
          <p:cNvSpPr txBox="1"/>
          <p:nvPr/>
        </p:nvSpPr>
        <p:spPr>
          <a:xfrm>
            <a:off x="8302752" y="2468880"/>
            <a:ext cx="2962656" cy="3474720"/>
          </a:xfrm>
          <a:prstGeom prst="rect">
            <a:avLst/>
          </a:prstGeom>
          <a:noFill/>
        </p:spPr>
        <p:txBody>
          <a:bodyPr wrap="square" lIns="0" tIns="0">
            <a:spAutoFit/>
          </a:bodyPr>
          <a:lstStyle/>
          <a:p>
            <a:pPr>
              <a:spcBef>
                <a:spcPts val="1000"/>
              </a:spcBef>
              <a:defRPr sz="1150">
                <a:solidFill>
                  <a:srgbClr val="0F172A"/>
                </a:solidFill>
                <a:latin typeface="Segoe UI"/>
              </a:defRPr>
            </a:pPr>
            <a:r>
              <a:t>✔  Lưu trữ danh mục 600+ thiết bị, 9 nhóm phân loại.</a:t>
            </a:r>
          </a:p>
          <a:p>
            <a:pPr>
              <a:spcBef>
                <a:spcPts val="1000"/>
              </a:spcBef>
              <a:defRPr sz="1150">
                <a:solidFill>
                  <a:srgbClr val="0F172A"/>
                </a:solidFill>
                <a:latin typeface="Segoe UI"/>
              </a:defRPr>
            </a:pPr>
            <a:r>
              <a:t>✔  Bảng TinhTrangDuyet quản lý phân cấp trạng thái duyệt.</a:t>
            </a:r>
          </a:p>
          <a:p>
            <a:pPr>
              <a:spcBef>
                <a:spcPts val="1000"/>
              </a:spcBef>
              <a:defRPr sz="1150">
                <a:solidFill>
                  <a:srgbClr val="0F172A"/>
                </a:solidFill>
                <a:latin typeface="Segoe UI"/>
              </a:defRPr>
            </a:pPr>
            <a:r>
              <a:t>✔  Ràng buộc toàn vẹn khóa ngoại &amp; Default constraints.</a:t>
            </a:r>
          </a:p>
          <a:p>
            <a:pPr>
              <a:spcBef>
                <a:spcPts val="1000"/>
              </a:spcBef>
              <a:defRPr sz="1150">
                <a:solidFill>
                  <a:srgbClr val="0F172A"/>
                </a:solidFill>
                <a:latin typeface="Segoe UI"/>
              </a:defRPr>
            </a:pPr>
            <a:r>
              <a:t>✔  Sẵn sàng mở rộng hàng đợi thông báo (NotificationQueue).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822960"/>
          </a:xfrm>
          <a:prstGeom prst="rect">
            <a:avLst/>
          </a:prstGeom>
          <a:noFill/>
        </p:spPr>
        <p:txBody>
          <a:bodyPr wrap="square" lIns="0" tIns="0" rIns="0" bIns="0">
            <a:spAutoFit/>
          </a:bodyPr>
          <a:lstStyle/>
          <a:p>
            <a:pPr>
              <a:defRPr sz="1000" b="1">
                <a:solidFill>
                  <a:srgbClr val="42A5F5"/>
                </a:solidFill>
                <a:latin typeface="Segoe UI"/>
              </a:defRPr>
            </a:pPr>
            <a:r>
              <a:t>NGHIỆP VỤ VẬN HÀNH</a:t>
            </a:r>
          </a:p>
          <a:p>
            <a:pPr>
              <a:defRPr sz="2200" b="1">
                <a:solidFill>
                  <a:srgbClr val="0B5AA9"/>
                </a:solidFill>
                <a:latin typeface="Segoe UI"/>
              </a:defRPr>
            </a:pPr>
            <a:r>
              <a:t>Quy Trình Nghiệp Vụ Mượn Trả Thiết Bị 5 Bước Khép Kín</a:t>
            </a:r>
          </a:p>
        </p:txBody>
      </p:sp>
      <p:sp>
        <p:nvSpPr>
          <p:cNvPr id="5" name="Rounded Rectangle 4"/>
          <p:cNvSpPr/>
          <p:nvPr/>
        </p:nvSpPr>
        <p:spPr>
          <a:xfrm>
            <a:off x="731520" y="1645920"/>
            <a:ext cx="2057400" cy="4389120"/>
          </a:xfrm>
          <a:prstGeom prst="roundRect">
            <a:avLst/>
          </a:prstGeom>
          <a:solidFill>
            <a:srgbClr val="FFFFFF"/>
          </a:solidFill>
          <a:ln w="19050">
            <a:solidFill>
              <a:srgbClr val="BAE0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2057400" cy="1005840"/>
          </a:xfrm>
          <a:prstGeom prst="round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BƯỚC 1</a:t>
            </a:r>
          </a:p>
          <a:p>
            <a:pPr algn="ctr">
              <a:defRPr sz="1200" b="1">
                <a:solidFill>
                  <a:srgbClr val="E0CE92"/>
                </a:solidFill>
                <a:latin typeface="Segoe UI"/>
              </a:defRPr>
            </a:pPr>
            <a:r>
              <a:t>Tra Cứu &amp; Chọn</a:t>
            </a:r>
          </a:p>
        </p:txBody>
      </p:sp>
      <p:sp>
        <p:nvSpPr>
          <p:cNvPr id="7" name="TextBox 6"/>
          <p:cNvSpPr txBox="1"/>
          <p:nvPr/>
        </p:nvSpPr>
        <p:spPr>
          <a:xfrm>
            <a:off x="868680" y="2926080"/>
            <a:ext cx="1783080" cy="2743200"/>
          </a:xfrm>
          <a:prstGeom prst="rect">
            <a:avLst/>
          </a:prstGeom>
          <a:noFill/>
        </p:spPr>
        <p:txBody>
          <a:bodyPr wrap="square">
            <a:spAutoFit/>
          </a:bodyPr>
          <a:lstStyle/>
          <a:p>
            <a:pPr algn="ctr">
              <a:defRPr sz="1100">
                <a:solidFill>
                  <a:srgbClr val="475569"/>
                </a:solidFill>
                <a:latin typeface="Segoe UI"/>
              </a:defRPr>
            </a:pPr>
            <a:r>
              <a:t>Giáo viên duyệt kho thiết bị theo 9 danh mục hoặc kiểm tra lưới lịch phòng học.</a:t>
            </a:r>
          </a:p>
        </p:txBody>
      </p:sp>
      <p:sp>
        <p:nvSpPr>
          <p:cNvPr id="8" name="Rounded Rectangle 7"/>
          <p:cNvSpPr/>
          <p:nvPr/>
        </p:nvSpPr>
        <p:spPr>
          <a:xfrm>
            <a:off x="2898648" y="1645920"/>
            <a:ext cx="2057400" cy="4389120"/>
          </a:xfrm>
          <a:prstGeom prst="roundRect">
            <a:avLst/>
          </a:prstGeom>
          <a:solidFill>
            <a:srgbClr val="FFFFFF"/>
          </a:solidFill>
          <a:ln w="19050">
            <a:solidFill>
              <a:srgbClr val="BAE0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98648" y="1645920"/>
            <a:ext cx="2057400" cy="1005840"/>
          </a:xfrm>
          <a:prstGeom prst="roundRect">
            <a:avLst/>
          </a:prstGeom>
          <a:solidFill>
            <a:srgbClr val="42A5F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BƯỚC 2</a:t>
            </a:r>
          </a:p>
          <a:p>
            <a:pPr algn="ctr">
              <a:defRPr sz="1200" b="1">
                <a:solidFill>
                  <a:srgbClr val="E0CE92"/>
                </a:solidFill>
                <a:latin typeface="Segoe UI"/>
              </a:defRPr>
            </a:pPr>
            <a:r>
              <a:t>Tạo Yêu Cầu</a:t>
            </a:r>
          </a:p>
        </p:txBody>
      </p:sp>
      <p:sp>
        <p:nvSpPr>
          <p:cNvPr id="10" name="TextBox 9"/>
          <p:cNvSpPr txBox="1"/>
          <p:nvPr/>
        </p:nvSpPr>
        <p:spPr>
          <a:xfrm>
            <a:off x="3035808" y="2926080"/>
            <a:ext cx="1783080" cy="2743200"/>
          </a:xfrm>
          <a:prstGeom prst="rect">
            <a:avLst/>
          </a:prstGeom>
          <a:noFill/>
        </p:spPr>
        <p:txBody>
          <a:bodyPr wrap="square">
            <a:spAutoFit/>
          </a:bodyPr>
          <a:lstStyle/>
          <a:p>
            <a:pPr algn="ctr">
              <a:defRPr sz="1100">
                <a:solidFill>
                  <a:srgbClr val="475569"/>
                </a:solidFill>
                <a:latin typeface="Segoe UI"/>
              </a:defRPr>
            </a:pPr>
            <a:r>
              <a:t>Nhấn nút 'Mượn' và điền mục đích; phiếu mượn tự động lưu với trạng thái Chờ duyệt.</a:t>
            </a:r>
          </a:p>
        </p:txBody>
      </p:sp>
      <p:sp>
        <p:nvSpPr>
          <p:cNvPr id="11" name="Rounded Rectangle 10"/>
          <p:cNvSpPr/>
          <p:nvPr/>
        </p:nvSpPr>
        <p:spPr>
          <a:xfrm>
            <a:off x="5065776" y="1645920"/>
            <a:ext cx="2057400" cy="4389120"/>
          </a:xfrm>
          <a:prstGeom prst="roundRect">
            <a:avLst/>
          </a:prstGeom>
          <a:solidFill>
            <a:srgbClr val="FFFFFF"/>
          </a:solidFill>
          <a:ln w="19050">
            <a:solidFill>
              <a:srgbClr val="BAE0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65776" y="1645920"/>
            <a:ext cx="2057400" cy="10058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BƯỚC 3</a:t>
            </a:r>
          </a:p>
          <a:p>
            <a:pPr algn="ctr">
              <a:defRPr sz="1200" b="1">
                <a:solidFill>
                  <a:srgbClr val="E0CE92"/>
                </a:solidFill>
                <a:latin typeface="Segoe UI"/>
              </a:defRPr>
            </a:pPr>
            <a:r>
              <a:t>Xét Duyệt Kho</a:t>
            </a:r>
          </a:p>
        </p:txBody>
      </p:sp>
      <p:sp>
        <p:nvSpPr>
          <p:cNvPr id="13" name="TextBox 12"/>
          <p:cNvSpPr txBox="1"/>
          <p:nvPr/>
        </p:nvSpPr>
        <p:spPr>
          <a:xfrm>
            <a:off x="5202936" y="2926080"/>
            <a:ext cx="1783080" cy="2743200"/>
          </a:xfrm>
          <a:prstGeom prst="rect">
            <a:avLst/>
          </a:prstGeom>
          <a:noFill/>
        </p:spPr>
        <p:txBody>
          <a:bodyPr wrap="square">
            <a:spAutoFit/>
          </a:bodyPr>
          <a:lstStyle/>
          <a:p>
            <a:pPr algn="ctr">
              <a:defRPr sz="1100">
                <a:solidFill>
                  <a:srgbClr val="475569"/>
                </a:solidFill>
                <a:latin typeface="Segoe UI"/>
              </a:defRPr>
            </a:pPr>
            <a:r>
              <a:t>Cán bộ kho kiểm tra trên admin_borrows.php và chọn duyệt hoặc từ chối phiếu.</a:t>
            </a:r>
          </a:p>
        </p:txBody>
      </p:sp>
      <p:sp>
        <p:nvSpPr>
          <p:cNvPr id="14" name="Rounded Rectangle 13"/>
          <p:cNvSpPr/>
          <p:nvPr/>
        </p:nvSpPr>
        <p:spPr>
          <a:xfrm>
            <a:off x="7232904" y="1645920"/>
            <a:ext cx="2057400" cy="4389120"/>
          </a:xfrm>
          <a:prstGeom prst="roundRect">
            <a:avLst/>
          </a:prstGeom>
          <a:solidFill>
            <a:srgbClr val="FFFFFF"/>
          </a:solidFill>
          <a:ln w="19050">
            <a:solidFill>
              <a:srgbClr val="BAE0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232904" y="1645920"/>
            <a:ext cx="2057400" cy="1005840"/>
          </a:xfrm>
          <a:prstGeom prst="roundRect">
            <a:avLst/>
          </a:prstGeom>
          <a:solidFill>
            <a:srgbClr val="0B5AA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BƯỚC 4</a:t>
            </a:r>
          </a:p>
          <a:p>
            <a:pPr algn="ctr">
              <a:defRPr sz="1200" b="1">
                <a:solidFill>
                  <a:srgbClr val="E0CE92"/>
                </a:solidFill>
                <a:latin typeface="Segoe UI"/>
              </a:defRPr>
            </a:pPr>
            <a:r>
              <a:t>Bàn Giao Đồ</a:t>
            </a:r>
          </a:p>
        </p:txBody>
      </p:sp>
      <p:sp>
        <p:nvSpPr>
          <p:cNvPr id="16" name="TextBox 15"/>
          <p:cNvSpPr txBox="1"/>
          <p:nvPr/>
        </p:nvSpPr>
        <p:spPr>
          <a:xfrm>
            <a:off x="7370064" y="2926080"/>
            <a:ext cx="1783080" cy="2743200"/>
          </a:xfrm>
          <a:prstGeom prst="rect">
            <a:avLst/>
          </a:prstGeom>
          <a:noFill/>
        </p:spPr>
        <p:txBody>
          <a:bodyPr wrap="square">
            <a:spAutoFit/>
          </a:bodyPr>
          <a:lstStyle/>
          <a:p>
            <a:pPr algn="ctr">
              <a:defRPr sz="1100">
                <a:solidFill>
                  <a:srgbClr val="475569"/>
                </a:solidFill>
                <a:latin typeface="Segoe UI"/>
              </a:defRPr>
            </a:pPr>
            <a:r>
              <a:t>Giáo viên nhận thiết bị; hệ thống tự động trừ kho và chuyển trạng thái 'Đang mượn'.</a:t>
            </a:r>
          </a:p>
        </p:txBody>
      </p:sp>
      <p:sp>
        <p:nvSpPr>
          <p:cNvPr id="17" name="Rounded Rectangle 16"/>
          <p:cNvSpPr/>
          <p:nvPr/>
        </p:nvSpPr>
        <p:spPr>
          <a:xfrm>
            <a:off x="9400032" y="1645920"/>
            <a:ext cx="2057400" cy="4389120"/>
          </a:xfrm>
          <a:prstGeom prst="roundRect">
            <a:avLst/>
          </a:prstGeom>
          <a:solidFill>
            <a:srgbClr val="FFFFFF"/>
          </a:solidFill>
          <a:ln w="19050">
            <a:solidFill>
              <a:srgbClr val="BAE0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400032" y="1645920"/>
            <a:ext cx="2057400" cy="10058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BƯỚC 5</a:t>
            </a:r>
          </a:p>
          <a:p>
            <a:pPr algn="ctr">
              <a:defRPr sz="1200" b="1">
                <a:solidFill>
                  <a:srgbClr val="E0CE92"/>
                </a:solidFill>
                <a:latin typeface="Segoe UI"/>
              </a:defRPr>
            </a:pPr>
            <a:r>
              <a:t>Hoàn Trả &amp; Lưu</a:t>
            </a:r>
          </a:p>
        </p:txBody>
      </p:sp>
      <p:sp>
        <p:nvSpPr>
          <p:cNvPr id="19" name="TextBox 18"/>
          <p:cNvSpPr txBox="1"/>
          <p:nvPr/>
        </p:nvSpPr>
        <p:spPr>
          <a:xfrm>
            <a:off x="9537192" y="2926080"/>
            <a:ext cx="1783080" cy="2743200"/>
          </a:xfrm>
          <a:prstGeom prst="rect">
            <a:avLst/>
          </a:prstGeom>
          <a:noFill/>
        </p:spPr>
        <p:txBody>
          <a:bodyPr wrap="square">
            <a:spAutoFit/>
          </a:bodyPr>
          <a:lstStyle/>
          <a:p>
            <a:pPr algn="ctr">
              <a:defRPr sz="1100">
                <a:solidFill>
                  <a:srgbClr val="475569"/>
                </a:solidFill>
                <a:latin typeface="Segoe UI"/>
              </a:defRPr>
            </a:pPr>
            <a:r>
              <a:t>Giáo viên trả thiết bị, kho xác nhận 'Đã trả', hệ thống cộng lại kho và đổi 'Sẵn sàng'.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822960"/>
          </a:xfrm>
          <a:prstGeom prst="rect">
            <a:avLst/>
          </a:prstGeom>
          <a:noFill/>
        </p:spPr>
        <p:txBody>
          <a:bodyPr wrap="square" lIns="0" tIns="0" rIns="0" bIns="0">
            <a:spAutoFit/>
          </a:bodyPr>
          <a:lstStyle/>
          <a:p>
            <a:pPr>
              <a:defRPr sz="1000" b="1">
                <a:solidFill>
                  <a:srgbClr val="42A5F5"/>
                </a:solidFill>
                <a:latin typeface="Segoe UI"/>
              </a:defRPr>
            </a:pPr>
            <a:r>
              <a:t>KIỂM THỬ VÀ NGHIỆM THU</a:t>
            </a:r>
          </a:p>
          <a:p>
            <a:pPr>
              <a:defRPr sz="2200" b="1">
                <a:solidFill>
                  <a:srgbClr val="0B5AA9"/>
                </a:solidFill>
                <a:latin typeface="Segoe UI"/>
              </a:defRPr>
            </a:pPr>
            <a:r>
              <a:t>Báo Cáo Nghiệm Thu &amp; Đánh Giá Chất Lượng Phần Mềm</a:t>
            </a:r>
          </a:p>
        </p:txBody>
      </p:sp>
      <p:sp>
        <p:nvSpPr>
          <p:cNvPr id="5" name="Rounded Rectangle 4"/>
          <p:cNvSpPr/>
          <p:nvPr/>
        </p:nvSpPr>
        <p:spPr>
          <a:xfrm>
            <a:off x="731520" y="1645920"/>
            <a:ext cx="2542032" cy="2011680"/>
          </a:xfrm>
          <a:prstGeom prst="roundRect">
            <a:avLst/>
          </a:prstGeom>
          <a:solidFill>
            <a:srgbClr val="FFFFFF"/>
          </a:solidFill>
          <a:ln w="19050">
            <a:solidFill>
              <a:srgbClr val="BAE0FD"/>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defRPr sz="2800" b="1">
                <a:solidFill>
                  <a:srgbClr val="1976D2"/>
                </a:solidFill>
                <a:latin typeface="Segoe UI"/>
              </a:defRPr>
            </a:pPr>
            <a:r>
              <a:t>130+</a:t>
            </a:r>
          </a:p>
          <a:p>
            <a:pPr algn="ctr">
              <a:defRPr sz="1100" b="1">
                <a:solidFill>
                  <a:srgbClr val="0F172A"/>
                </a:solidFill>
                <a:latin typeface="Segoe UI"/>
              </a:defRPr>
            </a:pPr>
            <a:r>
              <a:t>Tài nguyên Assets liên kết</a:t>
            </a:r>
          </a:p>
          <a:p>
            <a:pPr algn="ctr">
              <a:defRPr sz="950">
                <a:solidFill>
                  <a:srgbClr val="475569"/>
                </a:solidFill>
                <a:latin typeface="Segoe UI"/>
              </a:defRPr>
            </a:pPr>
            <a:r>
              <a:t>100% đường dẫn CSS, JS, hình ảnh được chuẩn hóa.</a:t>
            </a:r>
          </a:p>
        </p:txBody>
      </p:sp>
      <p:sp>
        <p:nvSpPr>
          <p:cNvPr id="6" name="Rounded Rectangle 5"/>
          <p:cNvSpPr/>
          <p:nvPr/>
        </p:nvSpPr>
        <p:spPr>
          <a:xfrm>
            <a:off x="3456432" y="1645920"/>
            <a:ext cx="2542032" cy="2011680"/>
          </a:xfrm>
          <a:prstGeom prst="roundRect">
            <a:avLst/>
          </a:prstGeom>
          <a:solidFill>
            <a:srgbClr val="FFFFFF"/>
          </a:solidFill>
          <a:ln w="19050">
            <a:solidFill>
              <a:srgbClr val="BAE0FD"/>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defRPr sz="2800" b="1">
                <a:solidFill>
                  <a:srgbClr val="10B981"/>
                </a:solidFill>
                <a:latin typeface="Segoe UI"/>
              </a:defRPr>
            </a:pPr>
            <a:r>
              <a:t>0%</a:t>
            </a:r>
          </a:p>
          <a:p>
            <a:pPr algn="ctr">
              <a:defRPr sz="1100" b="1">
                <a:solidFill>
                  <a:srgbClr val="0F172A"/>
                </a:solidFill>
                <a:latin typeface="Segoe UI"/>
              </a:defRPr>
            </a:pPr>
            <a:r>
              <a:t>Tỷ lệ liên kết hỏng</a:t>
            </a:r>
          </a:p>
          <a:p>
            <a:pPr algn="ctr">
              <a:defRPr sz="950">
                <a:solidFill>
                  <a:srgbClr val="475569"/>
                </a:solidFill>
                <a:latin typeface="Segoe UI"/>
              </a:defRPr>
            </a:pPr>
            <a:r>
              <a:t>Không còn lỗi thiếu ảnh đại diện hay tài nguyên tĩnh.</a:t>
            </a:r>
          </a:p>
        </p:txBody>
      </p:sp>
      <p:sp>
        <p:nvSpPr>
          <p:cNvPr id="7" name="Rounded Rectangle 6"/>
          <p:cNvSpPr/>
          <p:nvPr/>
        </p:nvSpPr>
        <p:spPr>
          <a:xfrm>
            <a:off x="6181344" y="1645920"/>
            <a:ext cx="2542032" cy="2011680"/>
          </a:xfrm>
          <a:prstGeom prst="roundRect">
            <a:avLst/>
          </a:prstGeom>
          <a:solidFill>
            <a:srgbClr val="FFFFFF"/>
          </a:solidFill>
          <a:ln w="19050">
            <a:solidFill>
              <a:srgbClr val="BAE0FD"/>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defRPr sz="2800" b="1">
                <a:solidFill>
                  <a:srgbClr val="42A5F5"/>
                </a:solidFill>
                <a:latin typeface="Segoe UI"/>
              </a:defRPr>
            </a:pPr>
            <a:r>
              <a:t>631</a:t>
            </a:r>
          </a:p>
          <a:p>
            <a:pPr algn="ctr">
              <a:defRPr sz="1100" b="1">
                <a:solidFill>
                  <a:srgbClr val="0F172A"/>
                </a:solidFill>
                <a:latin typeface="Segoe UI"/>
              </a:defRPr>
            </a:pPr>
            <a:r>
              <a:t>Thiết bị được số hóa</a:t>
            </a:r>
          </a:p>
          <a:p>
            <a:pPr algn="ctr">
              <a:defRPr sz="950">
                <a:solidFill>
                  <a:srgbClr val="475569"/>
                </a:solidFill>
                <a:latin typeface="Segoe UI"/>
              </a:defRPr>
            </a:pPr>
            <a:r>
              <a:t>Đầy đủ thông tin môn học, danh mục và tình trạng.</a:t>
            </a:r>
          </a:p>
        </p:txBody>
      </p:sp>
      <p:sp>
        <p:nvSpPr>
          <p:cNvPr id="8" name="Rounded Rectangle 7"/>
          <p:cNvSpPr/>
          <p:nvPr/>
        </p:nvSpPr>
        <p:spPr>
          <a:xfrm>
            <a:off x="8906256" y="1645920"/>
            <a:ext cx="2542032" cy="2011680"/>
          </a:xfrm>
          <a:prstGeom prst="roundRect">
            <a:avLst/>
          </a:prstGeom>
          <a:solidFill>
            <a:srgbClr val="FFFFFF"/>
          </a:solidFill>
          <a:ln w="19050">
            <a:solidFill>
              <a:srgbClr val="BAE0FD"/>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defRPr sz="2800" b="1">
                <a:solidFill>
                  <a:srgbClr val="0B5AA9"/>
                </a:solidFill>
                <a:latin typeface="Segoe UI"/>
              </a:defRPr>
            </a:pPr>
            <a:r>
              <a:t>100%</a:t>
            </a:r>
          </a:p>
          <a:p>
            <a:pPr algn="ctr">
              <a:defRPr sz="1100" b="1">
                <a:solidFill>
                  <a:srgbClr val="0F172A"/>
                </a:solidFill>
                <a:latin typeface="Segoe UI"/>
              </a:defRPr>
            </a:pPr>
            <a:r>
              <a:t>Chuẩn hóa Responsive</a:t>
            </a:r>
          </a:p>
          <a:p>
            <a:pPr algn="ctr">
              <a:defRPr sz="950">
                <a:solidFill>
                  <a:srgbClr val="475569"/>
                </a:solidFill>
                <a:latin typeface="Segoe UI"/>
              </a:defRPr>
            </a:pPr>
            <a:r>
              <a:t>Hoạt động hoàn hảo trên mọi kích thước màn hình.</a:t>
            </a:r>
          </a:p>
        </p:txBody>
      </p:sp>
      <p:sp>
        <p:nvSpPr>
          <p:cNvPr id="9" name="Rounded Rectangle 8"/>
          <p:cNvSpPr/>
          <p:nvPr/>
        </p:nvSpPr>
        <p:spPr>
          <a:xfrm>
            <a:off x="731520" y="3931920"/>
            <a:ext cx="10728655" cy="2286000"/>
          </a:xfrm>
          <a:prstGeom prst="roundRect">
            <a:avLst/>
          </a:prstGeom>
          <a:solidFill>
            <a:srgbClr val="FFFFFF"/>
          </a:solidFill>
          <a:ln w="19050">
            <a:solidFill>
              <a:srgbClr val="BAE0FD"/>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sz="1300" b="1">
                <a:solidFill>
                  <a:srgbClr val="0B5AA9"/>
                </a:solidFill>
                <a:latin typeface="Segoe UI"/>
              </a:defRPr>
            </a:pPr>
            <a:r>
              <a:t>TỔNG HỢP KIỂM THỬ THỰC TẾ TRÊN MÔI TRƯỜNG LOCALHOST / XAMPP:</a:t>
            </a:r>
          </a:p>
          <a:p>
            <a:pPr>
              <a:spcBef>
                <a:spcPts val="400"/>
              </a:spcBef>
              <a:defRPr sz="1100">
                <a:solidFill>
                  <a:srgbClr val="0F172A"/>
                </a:solidFill>
                <a:latin typeface="Segoe UI"/>
              </a:defRPr>
            </a:pPr>
            <a:r>
              <a:t>• 1. Xác thực &amp; Phân quyền: Đảm bảo phân tách rạch ròi giữa giao diện Giáo viên và Bảng quản trị Admin.</a:t>
            </a:r>
          </a:p>
          <a:p>
            <a:pPr>
              <a:spcBef>
                <a:spcPts val="400"/>
              </a:spcBef>
              <a:defRPr sz="1100">
                <a:solidFill>
                  <a:srgbClr val="0F172A"/>
                </a:solidFill>
                <a:latin typeface="Segoe UI"/>
              </a:defRPr>
            </a:pPr>
            <a:r>
              <a:t>• 2. Toàn vẹn dữ liệu: Bảng TinhTrangDuyet ngăn chặn triệt để tình trạng đơn mượn bị sai lệch mã trạng thái.</a:t>
            </a:r>
          </a:p>
          <a:p>
            <a:pPr>
              <a:spcBef>
                <a:spcPts val="400"/>
              </a:spcBef>
              <a:defRPr sz="1100">
                <a:solidFill>
                  <a:srgbClr val="0F172A"/>
                </a:solidFill>
                <a:latin typeface="Segoe UI"/>
              </a:defRPr>
            </a:pPr>
            <a:r>
              <a:t>• 3. Tối ưu hiệu năng: Cơ chế tải dữ liệu dạng chỉ-đọc kết hợp Skeleton Screen triệt tiêu hiện tượng lag trang.</a:t>
            </a:r>
          </a:p>
          <a:p>
            <a:pPr>
              <a:spcBef>
                <a:spcPts val="400"/>
              </a:spcBef>
              <a:defRPr sz="1100">
                <a:solidFill>
                  <a:srgbClr val="0F172A"/>
                </a:solidFill>
                <a:latin typeface="Segoe UI"/>
              </a:defRPr>
            </a:pPr>
            <a:r>
              <a:t>• 4. Tương thích triển khai: Hệ thống vận hành ổn định trên máy chủ mới thông qua cấu hình biến môi trường kết nối.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822960"/>
          </a:xfrm>
          <a:prstGeom prst="rect">
            <a:avLst/>
          </a:prstGeom>
          <a:noFill/>
        </p:spPr>
        <p:txBody>
          <a:bodyPr wrap="square" lIns="0" tIns="0" rIns="0" bIns="0">
            <a:spAutoFit/>
          </a:bodyPr>
          <a:lstStyle/>
          <a:p>
            <a:pPr>
              <a:defRPr sz="1000" b="1">
                <a:solidFill>
                  <a:srgbClr val="42A5F5"/>
                </a:solidFill>
                <a:latin typeface="Segoe UI"/>
              </a:defRPr>
            </a:pPr>
            <a:r>
              <a:t>HƯỚNG MỞ RỘNG VÀ NÂNG CẤP</a:t>
            </a:r>
          </a:p>
          <a:p>
            <a:pPr>
              <a:defRPr sz="2200" b="1">
                <a:solidFill>
                  <a:srgbClr val="0B5AA9"/>
                </a:solidFill>
                <a:latin typeface="Segoe UI"/>
              </a:defRPr>
            </a:pPr>
            <a:r>
              <a:t>Lộ Trình Phát Triển Tương Lai (Roadmap)</a:t>
            </a:r>
          </a:p>
        </p:txBody>
      </p:sp>
      <p:sp>
        <p:nvSpPr>
          <p:cNvPr id="5" name="Rounded Rectangle 4"/>
          <p:cNvSpPr/>
          <p:nvPr/>
        </p:nvSpPr>
        <p:spPr>
          <a:xfrm>
            <a:off x="731520" y="1645920"/>
            <a:ext cx="2542032" cy="4572000"/>
          </a:xfrm>
          <a:prstGeom prst="roundRect">
            <a:avLst/>
          </a:prstGeom>
          <a:solidFill>
            <a:srgbClr val="FFFFFF"/>
          </a:solidFill>
          <a:ln w="19050">
            <a:solidFill>
              <a:srgbClr val="BAE0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2542032" cy="1005840"/>
          </a:xfrm>
          <a:prstGeom prst="round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E0CE92"/>
                </a:solidFill>
                <a:latin typeface="Segoe UI"/>
              </a:defRPr>
            </a:pPr>
            <a:r>
              <a:t>SMART BORROWING (QR)</a:t>
            </a:r>
          </a:p>
          <a:p>
            <a:pPr algn="ctr">
              <a:defRPr sz="1200" b="1">
                <a:solidFill>
                  <a:srgbClr val="FFFFFF"/>
                </a:solidFill>
                <a:latin typeface="Segoe UI"/>
              </a:defRPr>
            </a:pPr>
            <a:r>
              <a:t>Quản lý mã QR thông minh</a:t>
            </a:r>
          </a:p>
        </p:txBody>
      </p:sp>
      <p:sp>
        <p:nvSpPr>
          <p:cNvPr id="7" name="TextBox 6"/>
          <p:cNvSpPr txBox="1"/>
          <p:nvPr/>
        </p:nvSpPr>
        <p:spPr>
          <a:xfrm>
            <a:off x="868680" y="2834640"/>
            <a:ext cx="2267712" cy="3108960"/>
          </a:xfrm>
          <a:prstGeom prst="rect">
            <a:avLst/>
          </a:prstGeom>
          <a:noFill/>
        </p:spPr>
        <p:txBody>
          <a:bodyPr wrap="square">
            <a:spAutoFit/>
          </a:bodyPr>
          <a:lstStyle/>
          <a:p>
            <a:pPr algn="ctr">
              <a:defRPr sz="1100">
                <a:solidFill>
                  <a:srgbClr val="475569"/>
                </a:solidFill>
                <a:latin typeface="Segoe UI"/>
              </a:defRPr>
            </a:pPr>
            <a:r>
              <a:t>Dán nhãn mã QR trên từng thiết bị, giáo viên quét mã bằng điện thoại để hoàn tất thủ tục mượn/trả trong 3 giây.</a:t>
            </a:r>
          </a:p>
        </p:txBody>
      </p:sp>
      <p:sp>
        <p:nvSpPr>
          <p:cNvPr id="8" name="Rounded Rectangle 7"/>
          <p:cNvSpPr/>
          <p:nvPr/>
        </p:nvSpPr>
        <p:spPr>
          <a:xfrm>
            <a:off x="3456432" y="1645920"/>
            <a:ext cx="2542032" cy="4572000"/>
          </a:xfrm>
          <a:prstGeom prst="roundRect">
            <a:avLst/>
          </a:prstGeom>
          <a:solidFill>
            <a:srgbClr val="FFFFFF"/>
          </a:solidFill>
          <a:ln w="19050">
            <a:solidFill>
              <a:srgbClr val="BAE0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56432" y="1645920"/>
            <a:ext cx="2542032" cy="1005840"/>
          </a:xfrm>
          <a:prstGeom prst="roundRect">
            <a:avLst/>
          </a:prstGeom>
          <a:solidFill>
            <a:srgbClr val="42A5F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E0CE92"/>
                </a:solidFill>
                <a:latin typeface="Segoe UI"/>
              </a:defRPr>
            </a:pPr>
            <a:r>
              <a:t>AI ASSISTANT</a:t>
            </a:r>
          </a:p>
          <a:p>
            <a:pPr algn="ctr">
              <a:defRPr sz="1200" b="1">
                <a:solidFill>
                  <a:srgbClr val="FFFFFF"/>
                </a:solidFill>
                <a:latin typeface="Segoe UI"/>
              </a:defRPr>
            </a:pPr>
            <a:r>
              <a:t>Trợ lý ảo hỏi đáp</a:t>
            </a:r>
          </a:p>
        </p:txBody>
      </p:sp>
      <p:sp>
        <p:nvSpPr>
          <p:cNvPr id="10" name="TextBox 9"/>
          <p:cNvSpPr txBox="1"/>
          <p:nvPr/>
        </p:nvSpPr>
        <p:spPr>
          <a:xfrm>
            <a:off x="3593592" y="2834640"/>
            <a:ext cx="2267712" cy="3108960"/>
          </a:xfrm>
          <a:prstGeom prst="rect">
            <a:avLst/>
          </a:prstGeom>
          <a:noFill/>
        </p:spPr>
        <p:txBody>
          <a:bodyPr wrap="square">
            <a:spAutoFit/>
          </a:bodyPr>
          <a:lstStyle/>
          <a:p>
            <a:pPr algn="ctr">
              <a:defRPr sz="1100">
                <a:solidFill>
                  <a:srgbClr val="475569"/>
                </a:solidFill>
                <a:latin typeface="Segoe UI"/>
              </a:defRPr>
            </a:pPr>
            <a:r>
              <a:t>Tích hợp trợ lý AI thông minh giải đáp quy định, gợi ý thiết bị thay thế và tự động lập báo cáo kiểm kê kho định kỳ.</a:t>
            </a:r>
          </a:p>
        </p:txBody>
      </p:sp>
      <p:sp>
        <p:nvSpPr>
          <p:cNvPr id="11" name="Rounded Rectangle 10"/>
          <p:cNvSpPr/>
          <p:nvPr/>
        </p:nvSpPr>
        <p:spPr>
          <a:xfrm>
            <a:off x="6181344" y="1645920"/>
            <a:ext cx="2542032" cy="4572000"/>
          </a:xfrm>
          <a:prstGeom prst="roundRect">
            <a:avLst/>
          </a:prstGeom>
          <a:solidFill>
            <a:srgbClr val="FFFFFF"/>
          </a:solidFill>
          <a:ln w="19050">
            <a:solidFill>
              <a:srgbClr val="BAE0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81344" y="1645920"/>
            <a:ext cx="2542032" cy="10058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E0CE92"/>
                </a:solidFill>
                <a:latin typeface="Segoe UI"/>
              </a:defRPr>
            </a:pPr>
            <a:r>
              <a:t>OMNI NOTIFICATIONS</a:t>
            </a:r>
          </a:p>
          <a:p>
            <a:pPr algn="ctr">
              <a:defRPr sz="1200" b="1">
                <a:solidFill>
                  <a:srgbClr val="FFFFFF"/>
                </a:solidFill>
                <a:latin typeface="Segoe UI"/>
              </a:defRPr>
            </a:pPr>
            <a:r>
              <a:t>Hệ thống thông báo đa kênh</a:t>
            </a:r>
          </a:p>
        </p:txBody>
      </p:sp>
      <p:sp>
        <p:nvSpPr>
          <p:cNvPr id="13" name="TextBox 12"/>
          <p:cNvSpPr txBox="1"/>
          <p:nvPr/>
        </p:nvSpPr>
        <p:spPr>
          <a:xfrm>
            <a:off x="6318504" y="2834640"/>
            <a:ext cx="2267712" cy="3108960"/>
          </a:xfrm>
          <a:prstGeom prst="rect">
            <a:avLst/>
          </a:prstGeom>
          <a:noFill/>
        </p:spPr>
        <p:txBody>
          <a:bodyPr wrap="square">
            <a:spAutoFit/>
          </a:bodyPr>
          <a:lstStyle/>
          <a:p>
            <a:pPr algn="ctr">
              <a:defRPr sz="1100">
                <a:solidFill>
                  <a:srgbClr val="475569"/>
                </a:solidFill>
                <a:latin typeface="Segoe UI"/>
              </a:defRPr>
            </a:pPr>
            <a:r>
              <a:t>Tự động gửi thông báo duyệt phiếu, nhắc lịch trả thiết bị qua Zalo ZNS, Email và thông báo trên trình duyệt.</a:t>
            </a:r>
          </a:p>
        </p:txBody>
      </p:sp>
      <p:sp>
        <p:nvSpPr>
          <p:cNvPr id="14" name="Rounded Rectangle 13"/>
          <p:cNvSpPr/>
          <p:nvPr/>
        </p:nvSpPr>
        <p:spPr>
          <a:xfrm>
            <a:off x="8906256" y="1645920"/>
            <a:ext cx="2542032" cy="4572000"/>
          </a:xfrm>
          <a:prstGeom prst="roundRect">
            <a:avLst/>
          </a:prstGeom>
          <a:solidFill>
            <a:srgbClr val="FFFFFF"/>
          </a:solidFill>
          <a:ln w="19050">
            <a:solidFill>
              <a:srgbClr val="BAE0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906256" y="1645920"/>
            <a:ext cx="2542032" cy="10058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E0CE92"/>
                </a:solidFill>
                <a:latin typeface="Segoe UI"/>
              </a:defRPr>
            </a:pPr>
            <a:r>
              <a:t>MULTI-SCHOOL PLATFORM</a:t>
            </a:r>
          </a:p>
          <a:p>
            <a:pPr algn="ctr">
              <a:defRPr sz="1200" b="1">
                <a:solidFill>
                  <a:srgbClr val="FFFFFF"/>
                </a:solidFill>
                <a:latin typeface="Segoe UI"/>
              </a:defRPr>
            </a:pPr>
            <a:r>
              <a:t>Nền tảng liên trường</a:t>
            </a:r>
          </a:p>
        </p:txBody>
      </p:sp>
      <p:sp>
        <p:nvSpPr>
          <p:cNvPr id="16" name="TextBox 15"/>
          <p:cNvSpPr txBox="1"/>
          <p:nvPr/>
        </p:nvSpPr>
        <p:spPr>
          <a:xfrm>
            <a:off x="9043416" y="2834640"/>
            <a:ext cx="2267712" cy="3108960"/>
          </a:xfrm>
          <a:prstGeom prst="rect">
            <a:avLst/>
          </a:prstGeom>
          <a:noFill/>
        </p:spPr>
        <p:txBody>
          <a:bodyPr wrap="square">
            <a:spAutoFit/>
          </a:bodyPr>
          <a:lstStyle/>
          <a:p>
            <a:pPr algn="ctr">
              <a:defRPr sz="1100">
                <a:solidFill>
                  <a:srgbClr val="475569"/>
                </a:solidFill>
                <a:latin typeface="Segoe UI"/>
              </a:defRPr>
            </a:pPr>
            <a:r>
              <a:t>Mở rộng hệ thống để quản lý liên thông giữa nhiều trường học trên địa bàn, chia sẻ kho thiết bị dùng chung.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